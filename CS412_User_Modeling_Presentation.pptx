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CS412 User Modeling - Midterm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User Interaction Data to User Segments</a:t>
            </a:r>
          </a:p>
          <a:p>
            <a:r>
              <a:t>and Adaptive User Models</a:t>
            </a:r>
          </a:p>
          <a:p/>
          <a:p>
            <a:r>
              <a:t>October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500 users on game-based learning platform</a:t>
            </a:r>
          </a:p>
          <a:p>
            <a:r>
              <a:t>Dataset: 60,000 interaction records (120 per user)</a:t>
            </a:r>
          </a:p>
          <a:p>
            <a:r>
              <a:t>Session: 30 minutes, captured every 15 seconds</a:t>
            </a:r>
          </a:p>
          <a:p/>
          <a:p>
            <a:r>
              <a:t>Goal: What meaningful user types exist, and how should</a:t>
            </a:r>
          </a:p>
          <a:p>
            <a:r>
              <a:t>the system adapt to these different users?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Behavioral: Reading, Answering, Exploring activities</a:t>
            </a:r>
          </a:p>
          <a:p/>
          <a:p>
            <a:r>
              <a:t>Affective: 7 emotional states (facial recognition)</a:t>
            </a:r>
          </a:p>
          <a:p>
            <a:pPr lvl="1"/>
            <a:r>
              <a:t>Bored, Confused, Engaged, Focused, Frustrated, Happy, Neutral</a:t>
            </a:r>
          </a:p>
          <a:p/>
          <a:p>
            <a:r>
              <a:t>Performance: Accuracy, response times,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Engineering: 60,000 events to 500 users</a:t>
            </a:r>
          </a:p>
          <a:p>
            <a:pPr lvl="1"/>
            <a:r>
              <a:t>25 features created, 19 selected for clustering</a:t>
            </a:r>
          </a:p>
          <a:p/>
          <a:p>
            <a:r>
              <a:t>Clustering: K-Means with k=2 to k=10 evaluated</a:t>
            </a:r>
          </a:p>
          <a:p>
            <a:pPr lvl="1"/>
            <a:r>
              <a:t>Selected k=4 (balanced, interpretable)</a:t>
            </a:r>
          </a:p>
          <a:p/>
          <a:p>
            <a:r>
              <a:t>Interpretation: Evidence-based personas and adaptations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Determining Number of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k=2: Silhouette 0.314 (best), DB 1.306 - Too simplistic</a:t>
            </a:r>
          </a:p>
          <a:p>
            <a:r>
              <a:t>k=3: Silhouette 0.283, DB 1.405 - One cluster dominates 64%</a:t>
            </a:r>
          </a:p>
          <a:p>
            <a:r>
              <a:t>k=4: Silhouette 0.179, DB 1.889 - SELECTED (balanced)</a:t>
            </a:r>
          </a:p>
          <a:p>
            <a:r>
              <a:t>k=5+: Decreasing scores - Over-segmentation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[INSERT SCREENSHOT: Elbow Method &amp; Silhouette Score charts from notebook]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User Segments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Marcus - Struggling Readers (80 users, 16%)</a:t>
            </a:r>
          </a:p>
          <a:p>
            <a:pPr lvl="1"/>
            <a:r>
              <a:t>High reading time, low comprehension</a:t>
            </a:r>
          </a:p>
          <a:p/>
          <a:p>
            <a:r>
              <a:t>2. Sophia - Confident Learners (147 users, 29%)</a:t>
            </a:r>
          </a:p>
          <a:p>
            <a:pPr lvl="1"/>
            <a:r>
              <a:t>High accuracy, fast, highly engaged</a:t>
            </a:r>
          </a:p>
          <a:p/>
          <a:p>
            <a:r>
              <a:t>3. Jordan - Struggling Answerers (98 users, 20%)</a:t>
            </a:r>
          </a:p>
          <a:p>
            <a:pPr lvl="1"/>
            <a:r>
              <a:t>Many attempts, high confusion/frustration</a:t>
            </a:r>
          </a:p>
          <a:p/>
          <a:p>
            <a:r>
              <a:t>4. Alex - Balanced Explorers (175 users, 35%)</a:t>
            </a:r>
          </a:p>
          <a:p>
            <a:pPr lvl="1"/>
            <a:r>
              <a:t>Curious, balanced approach, steady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Marcus - Struggling Readers (16%)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Behavior: 47% reading (HIGHEST), slow responses (8.52s)</a:t>
            </a:r>
          </a:p>
          <a:p/>
          <a:p>
            <a:r>
              <a:t>Emotion: 29% Bored (HIGHEST), 52% negative affect</a:t>
            </a:r>
          </a:p>
          <a:p/>
          <a:p>
            <a:r>
              <a:t>Performance: 55% accuracy (LOWEST), 89.9% progress</a:t>
            </a:r>
          </a:p>
          <a:p/>
          <a:p>
            <a:r>
              <a:t>Interpretation: Invests effort in reading but struggles</a:t>
            </a:r>
          </a:p>
          <a:p>
            <a:r>
              <a:t>with comprehension, leading to disengagement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Sophia - Confident Learners (29%)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Behavior: Balanced activities, fastest responses (7.59s)</a:t>
            </a:r>
          </a:p>
          <a:p/>
          <a:p>
            <a:r>
              <a:t>Emotion: 71% positive affect (HIGHEST), rarely confused</a:t>
            </a:r>
          </a:p>
          <a:p/>
          <a:p>
            <a:r>
              <a:t>Performance: 86% accuracy (HIGHEST), 93.6% progress</a:t>
            </a:r>
          </a:p>
          <a:p/>
          <a:p>
            <a:r>
              <a:t>Interpretation: High-achieving, confident learners who</a:t>
            </a:r>
          </a:p>
          <a:p>
            <a:r>
              <a:t>master content quickly and stay engaged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Jordan - Struggling Answerers (20%)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Behavior: 36% answering, slowest responses (8.82s)</a:t>
            </a:r>
          </a:p>
          <a:p/>
          <a:p>
            <a:r>
              <a:t>Emotion: 25.5% Confused (HIGHEST), 55% negative affect</a:t>
            </a:r>
          </a:p>
          <a:p/>
          <a:p>
            <a:r>
              <a:t>Performance: 47% accuracy, 22.8 incorrect (MOST)</a:t>
            </a:r>
          </a:p>
          <a:p/>
          <a:p>
            <a:r>
              <a:t>Interpretation: Persistent but lacking foundational</a:t>
            </a:r>
          </a:p>
          <a:p>
            <a:r>
              <a:t>understanding, creating negative emotional spiral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Alex - Balanced Explorers (35%)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Behavior: 36% exploring (HIGHEST), well-balanced</a:t>
            </a:r>
          </a:p>
          <a:p/>
          <a:p>
            <a:r>
              <a:t>Emotion: 58% positive affect, healthy balance</a:t>
            </a:r>
          </a:p>
          <a:p/>
          <a:p>
            <a:r>
              <a:t>Performance: 73% accuracy (moderate-good), 92.6% progress</a:t>
            </a:r>
          </a:p>
          <a:p/>
          <a:p>
            <a:r>
              <a:t>Interpretation: Thoughtful learners who value</a:t>
            </a:r>
          </a:p>
          <a:p>
            <a:r>
              <a:t>understanding and discovery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Segments Spend Their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Marcus:  47% Reading | 26% Answering | 26% Exploring</a:t>
            </a:r>
          </a:p>
          <a:p>
            <a:r>
              <a:t>Sophia:  38% Reading | 36% Answering | 27% Exploring</a:t>
            </a:r>
          </a:p>
          <a:p>
            <a:r>
              <a:t>Jordan:  41% Reading | 36% Answering | 23% Exploring</a:t>
            </a:r>
          </a:p>
          <a:p>
            <a:r>
              <a:t>Alex:    37% Reading | 27% Answering | 36% Exploring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[INSERT SCREENSHOT: Activity Distribution bar chart from notebook]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Performance &amp; Emotional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Accuracy:</a:t>
            </a:r>
          </a:p>
          <a:p>
            <a:r>
              <a:t>Marcus: 55.3%</a:t>
            </a:r>
          </a:p>
          <a:p>
            <a:r>
              <a:t>Sophia: 86.1%</a:t>
            </a:r>
          </a:p>
          <a:p>
            <a:r>
              <a:t>Jordan: 47.2%</a:t>
            </a:r>
          </a:p>
          <a:p>
            <a:r>
              <a:t>Alex: 72.7%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Positive vs Negative Affect:</a:t>
            </a:r>
          </a:p>
          <a:p>
            <a:r>
              <a:t>Marcus: 31% | 52%</a:t>
            </a:r>
          </a:p>
          <a:p>
            <a:r>
              <a:t>Sophia: 71% | 21%</a:t>
            </a:r>
          </a:p>
          <a:p>
            <a:r>
              <a:t>Jordan: 38% | 55%</a:t>
            </a:r>
          </a:p>
          <a:p>
            <a:r>
              <a:t>Alex: 58% |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[INSERT SCREENSHOT: Accuracy &amp; Affect charts from notebook]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Adaptation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Evidence → User Need → System Adaptation</a:t>
            </a:r>
          </a:p>
          <a:p/>
          <a:p>
            <a:r>
              <a:t>NOT generic: "Improve user experience"</a:t>
            </a:r>
          </a:p>
          <a:p/>
          <a:p>
            <a:r>
              <a:t>SPECIFIC, targeted:</a:t>
            </a:r>
          </a:p>
          <a:p>
            <a:pPr lvl="1"/>
            <a:r>
              <a:t>Comprehension scaffolding for struggling readers</a:t>
            </a:r>
          </a:p>
          <a:p>
            <a:pPr lvl="1"/>
            <a:r>
              <a:t>Advanced challenge tracks for high performers</a:t>
            </a:r>
          </a:p>
          <a:p>
            <a:pPr lvl="1"/>
            <a:r>
              <a:t>Immediate feedback with worked examples</a:t>
            </a:r>
          </a:p>
          <a:p>
            <a:pPr lvl="1"/>
            <a:r>
              <a:t>Enriched exploration opportunities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Adaptations for Marcus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Comprehension Scaffolding</a:t>
            </a:r>
          </a:p>
          <a:p>
            <a:pPr lvl="1"/>
            <a:r>
              <a:t>Highlight key concepts, mini-checks, visual aids</a:t>
            </a:r>
          </a:p>
          <a:p/>
          <a:p>
            <a:r>
              <a:t>2. Progressive Difficulty</a:t>
            </a:r>
          </a:p>
          <a:p>
            <a:pPr lvl="1"/>
            <a:r>
              <a:t>Start easier (60-70%), celebrate wins, show progress</a:t>
            </a:r>
          </a:p>
          <a:p/>
          <a:p>
            <a:r>
              <a:t>3. Alternative Explanations</a:t>
            </a:r>
          </a:p>
          <a:p>
            <a:pPr lvl="1"/>
            <a:r>
              <a:t>Multiple formats: text, visual, video, simulation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Adaptations for Sophia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Content &amp; Challenge Tracks</a:t>
            </a:r>
          </a:p>
          <a:p>
            <a:pPr lvl="1"/>
            <a:r>
              <a:t>Expert Mode, bonus branches, synthesis questions</a:t>
            </a:r>
          </a:p>
          <a:p/>
          <a:p>
            <a:r>
              <a:t>2. Achievement Recognition</a:t>
            </a:r>
          </a:p>
          <a:p>
            <a:pPr lvl="1"/>
            <a:r>
              <a:t>Badges, certificates, narrative recognition</a:t>
            </a:r>
          </a:p>
          <a:p/>
          <a:p>
            <a:r>
              <a:t>3. Personalized Pacing &amp; Choice</a:t>
            </a:r>
          </a:p>
          <a:p>
            <a:pPr lvl="1"/>
            <a:r>
              <a:t>Time challenges, content choice, skip if confident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Adaptations for Jordan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Intelligent Feedback &amp; Worked Examples</a:t>
            </a:r>
          </a:p>
          <a:p>
            <a:pPr lvl="1"/>
            <a:r>
              <a:t>Immediate correct answer, explain WHY step-by-step</a:t>
            </a:r>
          </a:p>
          <a:p/>
          <a:p>
            <a:r>
              <a:t>2. Hints &amp; Scaffolding</a:t>
            </a:r>
          </a:p>
          <a:p>
            <a:pPr lvl="1"/>
            <a:r>
              <a:t>Hint button, sub-questions, check my thinking</a:t>
            </a:r>
          </a:p>
          <a:p/>
          <a:p>
            <a:r>
              <a:t>3. Adaptive Difficulty</a:t>
            </a:r>
          </a:p>
          <a:p>
            <a:pPr lvl="1"/>
            <a:r>
              <a:t>Review prerequisites, start easier, celebrate progress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Adaptations for Alex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Enriched Exploration</a:t>
            </a:r>
          </a:p>
          <a:p>
            <a:pPr lvl="1"/>
            <a:r>
              <a:t>Bonus branches, simulations, dig deeper sections</a:t>
            </a:r>
          </a:p>
          <a:p/>
          <a:p>
            <a:r>
              <a:t>2. Optional Depth Tracks</a:t>
            </a:r>
          </a:p>
          <a:p>
            <a:pPr lvl="1"/>
            <a:r>
              <a:t>Learn more vs Move on, depth badges, projects</a:t>
            </a:r>
          </a:p>
          <a:p/>
          <a:p>
            <a:r>
              <a:t>3. Gentle Challenge &amp; Growth</a:t>
            </a:r>
          </a:p>
          <a:p>
            <a:pPr lvl="1"/>
            <a:r>
              <a:t>Stretch goals, reflection, encouragement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Four distinct user types with different needs</a:t>
            </a:r>
          </a:p>
          <a:p/>
          <a:p>
            <a:r>
              <a:t>2. Emotion matters as much as performance</a:t>
            </a:r>
          </a:p>
          <a:p/>
          <a:p>
            <a:r>
              <a:t>3. Practice alone is not enough</a:t>
            </a:r>
          </a:p>
          <a:p>
            <a:pPr lvl="1"/>
            <a:r>
              <a:t>Quality of feedback matters more than quantity</a:t>
            </a:r>
          </a:p>
          <a:p/>
          <a:p>
            <a:r>
              <a:t>4. One-size-fits-all will fail</a:t>
            </a:r>
          </a:p>
          <a:p>
            <a:pPr lvl="1"/>
            <a:r>
              <a:t>Personalization is necessary, not optional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pPr lvl="1"/>
            <a:r>
              <a:t>Affective classifiers may misclassify</a:t>
            </a:r>
          </a:p>
          <a:p>
            <a:pPr lvl="1"/>
            <a:r>
              <a:t>Clusters are averages (variation exists)</a:t>
            </a:r>
          </a:p>
          <a:p/>
          <a:p>
            <a:r>
              <a:t>Ethical Concerns:</a:t>
            </a:r>
          </a:p>
          <a:p>
            <a:pPr lvl="1"/>
            <a:r>
              <a:t>Privacy: Facial recognition, behavior tracking</a:t>
            </a:r>
          </a:p>
          <a:p>
            <a:pPr lvl="1"/>
            <a:r>
              <a:t>Bias: In classifiers, clustering, adaptations</a:t>
            </a:r>
          </a:p>
          <a:p>
            <a:pPr lvl="1"/>
            <a:r>
              <a:t>Autonomy: Students should override decisions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modeling is powerful but imperfect</a:t>
            </a:r>
          </a:p>
          <a:p/>
          <a:p>
            <a:r>
              <a:t>Models are REPRESENTATIONS, not perfect descriptions</a:t>
            </a:r>
          </a:p>
          <a:p/>
          <a:p>
            <a:r>
              <a:t>Goal: Respectful, beneficial, transparent support</a:t>
            </a:r>
          </a:p>
          <a:p/>
          <a:p>
            <a:r>
              <a:t>Students are individuals first, cluster members second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CS412 User Modeling - Midterm Project</a:t>
            </a:r>
          </a:p>
          <a:p>
            <a:r>
              <a:t>October 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